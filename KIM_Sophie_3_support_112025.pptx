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8" r:id="rId2"/>
    <p:sldId id="257" r:id="rId3"/>
    <p:sldId id="258" r:id="rId4"/>
    <p:sldId id="259" r:id="rId5"/>
    <p:sldId id="275" r:id="rId6"/>
    <p:sldId id="274" r:id="rId7"/>
    <p:sldId id="269" r:id="rId8"/>
    <p:sldId id="278" r:id="rId9"/>
    <p:sldId id="260" r:id="rId10"/>
    <p:sldId id="270" r:id="rId11"/>
    <p:sldId id="272" r:id="rId12"/>
    <p:sldId id="273" r:id="rId13"/>
    <p:sldId id="263" r:id="rId14"/>
    <p:sldId id="276" r:id="rId15"/>
    <p:sldId id="265" r:id="rId16"/>
    <p:sldId id="26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B1F881-367C-457F-997D-A9A84269002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DB4EC8C-7D8C-427A-828A-35401E1A1FED}">
      <dgm:prSet phldrT="[Texte]" phldr="0"/>
      <dgm:spPr/>
      <dgm:t>
        <a:bodyPr/>
        <a:lstStyle/>
        <a:p>
          <a:r>
            <a:rPr lang="fr-FR" dirty="0">
              <a:latin typeface="Segoe UI Semilight" panose="020B0402040204020203" pitchFamily="34" charset="0"/>
              <a:cs typeface="Segoe UI Semilight" panose="020B0402040204020203" pitchFamily="34" charset="0"/>
            </a:rPr>
            <a:t>billets.csv</a:t>
          </a:r>
          <a:endParaRPr lang="en-GB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7A5CEEA8-9392-4138-AF13-9289EC11CC57}" type="parTrans" cxnId="{5FFABB86-EA31-46EA-AD7A-8D1F193D289C}">
      <dgm:prSet/>
      <dgm:spPr/>
      <dgm:t>
        <a:bodyPr/>
        <a:lstStyle/>
        <a:p>
          <a:endParaRPr lang="en-GB"/>
        </a:p>
      </dgm:t>
    </dgm:pt>
    <dgm:pt modelId="{23FA2147-7AB6-49BA-BB01-5EC983458B46}" type="sibTrans" cxnId="{5FFABB86-EA31-46EA-AD7A-8D1F193D289C}">
      <dgm:prSet/>
      <dgm:spPr/>
      <dgm:t>
        <a:bodyPr/>
        <a:lstStyle/>
        <a:p>
          <a:endParaRPr lang="en-GB"/>
        </a:p>
      </dgm:t>
    </dgm:pt>
    <dgm:pt modelId="{F59E1A53-18EB-40AF-BAF8-14FF6D3AB58F}">
      <dgm:prSet phldrT="[Texte]" phldr="0"/>
      <dgm:spPr/>
      <dgm:t>
        <a:bodyPr/>
        <a:lstStyle/>
        <a:p>
          <a:r>
            <a:rPr lang="fr-FR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is_genuine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DA738248-1DEB-4855-A006-D371DDC1FD19}" type="parTrans" cxnId="{6CF6F1C7-E8A3-40A8-A81C-17CE27069AA6}">
      <dgm:prSet/>
      <dgm:spPr/>
      <dgm:t>
        <a:bodyPr/>
        <a:lstStyle/>
        <a:p>
          <a:endParaRPr lang="en-GB"/>
        </a:p>
      </dgm:t>
    </dgm:pt>
    <dgm:pt modelId="{CE1880B0-59EA-4ECC-8BB3-CC28533B6DF1}" type="sibTrans" cxnId="{6CF6F1C7-E8A3-40A8-A81C-17CE27069AA6}">
      <dgm:prSet/>
      <dgm:spPr/>
      <dgm:t>
        <a:bodyPr/>
        <a:lstStyle/>
        <a:p>
          <a:endParaRPr lang="en-GB"/>
        </a:p>
      </dgm:t>
    </dgm:pt>
    <dgm:pt modelId="{25DF389A-0F0F-4BCC-970B-4526DB64FF75}">
      <dgm:prSet phldrT="[Texte]" phldr="0"/>
      <dgm:spPr/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diagonal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B3F6ADE8-58C5-4B11-9E4C-8425F5B86F67}" type="parTrans" cxnId="{04095AA5-FEA6-4967-8F62-89F4E82BAD69}">
      <dgm:prSet/>
      <dgm:spPr/>
      <dgm:t>
        <a:bodyPr/>
        <a:lstStyle/>
        <a:p>
          <a:endParaRPr lang="en-GB"/>
        </a:p>
      </dgm:t>
    </dgm:pt>
    <dgm:pt modelId="{F8D390D9-A348-46BE-BD43-57890F8643C3}" type="sibTrans" cxnId="{04095AA5-FEA6-4967-8F62-89F4E82BAD69}">
      <dgm:prSet/>
      <dgm:spPr/>
      <dgm:t>
        <a:bodyPr/>
        <a:lstStyle/>
        <a:p>
          <a:endParaRPr lang="en-GB"/>
        </a:p>
      </dgm:t>
    </dgm:pt>
    <dgm:pt modelId="{18F6B330-F1E4-469A-AB07-91BBB14E41D8}">
      <dgm:prSet phldrT="[Texte]" phldr="0"/>
      <dgm:spPr/>
      <dgm:t>
        <a:bodyPr/>
        <a:lstStyle/>
        <a:p>
          <a:r>
            <a:rPr lang="fr-FR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height_left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AE3C75B9-4B29-4C8F-B270-B2ACF8B943EE}" type="parTrans" cxnId="{6294752E-6ADB-4467-84DD-E9D56D95CCA7}">
      <dgm:prSet/>
      <dgm:spPr/>
      <dgm:t>
        <a:bodyPr/>
        <a:lstStyle/>
        <a:p>
          <a:endParaRPr lang="en-GB"/>
        </a:p>
      </dgm:t>
    </dgm:pt>
    <dgm:pt modelId="{0607745E-EFE5-4E89-857D-E7021A0A0DC0}" type="sibTrans" cxnId="{6294752E-6ADB-4467-84DD-E9D56D95CCA7}">
      <dgm:prSet/>
      <dgm:spPr/>
      <dgm:t>
        <a:bodyPr/>
        <a:lstStyle/>
        <a:p>
          <a:endParaRPr lang="en-GB"/>
        </a:p>
      </dgm:t>
    </dgm:pt>
    <dgm:pt modelId="{FFED452E-312D-4954-9813-0DD732798AA6}">
      <dgm:prSet phldrT="[Texte]" phldr="0"/>
      <dgm:spPr/>
      <dgm:t>
        <a:bodyPr/>
        <a:lstStyle/>
        <a:p>
          <a:r>
            <a:rPr lang="fr-FR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height_right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A2E72E9A-855B-4468-B3BA-78D66CACF090}" type="parTrans" cxnId="{37D69C52-79A5-4E7A-A24B-99A7E7BDE150}">
      <dgm:prSet/>
      <dgm:spPr/>
      <dgm:t>
        <a:bodyPr/>
        <a:lstStyle/>
        <a:p>
          <a:endParaRPr lang="en-GB"/>
        </a:p>
      </dgm:t>
    </dgm:pt>
    <dgm:pt modelId="{51F1E958-E93A-454F-A8D5-ADDC6E492561}" type="sibTrans" cxnId="{37D69C52-79A5-4E7A-A24B-99A7E7BDE150}">
      <dgm:prSet/>
      <dgm:spPr/>
      <dgm:t>
        <a:bodyPr/>
        <a:lstStyle/>
        <a:p>
          <a:endParaRPr lang="en-GB"/>
        </a:p>
      </dgm:t>
    </dgm:pt>
    <dgm:pt modelId="{41DA7D78-D632-421E-BEDD-54EC4B163493}">
      <dgm:prSet phldrT="[Texte]" phldr="0"/>
      <dgm:spPr/>
      <dgm:t>
        <a:bodyPr/>
        <a:lstStyle/>
        <a:p>
          <a:r>
            <a:rPr lang="fr-FR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margin_low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1ABFA106-0D33-4F6C-BD66-4E040BBDD5BE}" type="parTrans" cxnId="{2A924E84-0888-423F-8369-E285F4B796C2}">
      <dgm:prSet/>
      <dgm:spPr/>
      <dgm:t>
        <a:bodyPr/>
        <a:lstStyle/>
        <a:p>
          <a:endParaRPr lang="en-GB"/>
        </a:p>
      </dgm:t>
    </dgm:pt>
    <dgm:pt modelId="{FD78A589-C184-41BA-B439-1C00747EFD3F}" type="sibTrans" cxnId="{2A924E84-0888-423F-8369-E285F4B796C2}">
      <dgm:prSet/>
      <dgm:spPr/>
      <dgm:t>
        <a:bodyPr/>
        <a:lstStyle/>
        <a:p>
          <a:endParaRPr lang="en-GB"/>
        </a:p>
      </dgm:t>
    </dgm:pt>
    <dgm:pt modelId="{A3B14516-F8B9-432E-94CC-FA10B8915F5B}">
      <dgm:prSet phldrT="[Texte]" phldr="0"/>
      <dgm:spPr/>
      <dgm:t>
        <a:bodyPr/>
        <a:lstStyle/>
        <a:p>
          <a:r>
            <a:rPr lang="fr-FR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margin_up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496DEA6E-2C64-45EC-94AC-02219F48FF3D}" type="parTrans" cxnId="{A648874C-A083-40CA-9FAA-A7AEBC1A8613}">
      <dgm:prSet/>
      <dgm:spPr/>
      <dgm:t>
        <a:bodyPr/>
        <a:lstStyle/>
        <a:p>
          <a:endParaRPr lang="en-GB"/>
        </a:p>
      </dgm:t>
    </dgm:pt>
    <dgm:pt modelId="{938E8167-B1C1-4DD7-9850-625F09BFFFA7}" type="sibTrans" cxnId="{A648874C-A083-40CA-9FAA-A7AEBC1A8613}">
      <dgm:prSet/>
      <dgm:spPr/>
      <dgm:t>
        <a:bodyPr/>
        <a:lstStyle/>
        <a:p>
          <a:endParaRPr lang="en-GB"/>
        </a:p>
      </dgm:t>
    </dgm:pt>
    <dgm:pt modelId="{31EDC069-A4E5-4B35-A789-0C94B6B5D7B3}">
      <dgm:prSet phldrT="[Texte]" phldr="0"/>
      <dgm:spPr/>
      <dgm:t>
        <a:bodyPr/>
        <a:lstStyle/>
        <a:p>
          <a:r>
            <a:rPr lang="fr-FR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length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9887A797-D61F-4597-B302-7C453DCD1C59}" type="parTrans" cxnId="{7FF239DC-5347-475F-B7B9-4F5FFC7DA14F}">
      <dgm:prSet/>
      <dgm:spPr/>
      <dgm:t>
        <a:bodyPr/>
        <a:lstStyle/>
        <a:p>
          <a:endParaRPr lang="en-GB"/>
        </a:p>
      </dgm:t>
    </dgm:pt>
    <dgm:pt modelId="{17C8D539-5F87-432A-AF51-B94FF6DBC0CD}" type="sibTrans" cxnId="{7FF239DC-5347-475F-B7B9-4F5FFC7DA14F}">
      <dgm:prSet/>
      <dgm:spPr/>
      <dgm:t>
        <a:bodyPr/>
        <a:lstStyle/>
        <a:p>
          <a:endParaRPr lang="en-GB"/>
        </a:p>
      </dgm:t>
    </dgm:pt>
    <dgm:pt modelId="{FD5EB084-04B1-4117-B7B0-6DD09BCF7C6E}" type="pres">
      <dgm:prSet presAssocID="{DCB1F881-367C-457F-997D-A9A842690023}" presName="Name0" presStyleCnt="0">
        <dgm:presLayoutVars>
          <dgm:dir/>
          <dgm:animLvl val="lvl"/>
          <dgm:resizeHandles val="exact"/>
        </dgm:presLayoutVars>
      </dgm:prSet>
      <dgm:spPr/>
    </dgm:pt>
    <dgm:pt modelId="{2C677256-0022-4B15-8FF9-AF733E60E7E0}" type="pres">
      <dgm:prSet presAssocID="{4DB4EC8C-7D8C-427A-828A-35401E1A1FED}" presName="composite" presStyleCnt="0"/>
      <dgm:spPr/>
    </dgm:pt>
    <dgm:pt modelId="{A11D341D-539D-4B55-8565-B70E8FF18039}" type="pres">
      <dgm:prSet presAssocID="{4DB4EC8C-7D8C-427A-828A-35401E1A1FE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F07C513-19BE-4746-8F6A-5AEE6C520E2C}" type="pres">
      <dgm:prSet presAssocID="{4DB4EC8C-7D8C-427A-828A-35401E1A1FE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6294752E-6ADB-4467-84DD-E9D56D95CCA7}" srcId="{4DB4EC8C-7D8C-427A-828A-35401E1A1FED}" destId="{18F6B330-F1E4-469A-AB07-91BBB14E41D8}" srcOrd="2" destOrd="0" parTransId="{AE3C75B9-4B29-4C8F-B270-B2ACF8B943EE}" sibTransId="{0607745E-EFE5-4E89-857D-E7021A0A0DC0}"/>
    <dgm:cxn modelId="{D36D3833-BC36-4823-9120-2520348D9620}" type="presOf" srcId="{F59E1A53-18EB-40AF-BAF8-14FF6D3AB58F}" destId="{FF07C513-19BE-4746-8F6A-5AEE6C520E2C}" srcOrd="0" destOrd="0" presId="urn:microsoft.com/office/officeart/2005/8/layout/hList1"/>
    <dgm:cxn modelId="{2006636C-BA3C-48A7-B06F-CD730E4100DC}" type="presOf" srcId="{4DB4EC8C-7D8C-427A-828A-35401E1A1FED}" destId="{A11D341D-539D-4B55-8565-B70E8FF18039}" srcOrd="0" destOrd="0" presId="urn:microsoft.com/office/officeart/2005/8/layout/hList1"/>
    <dgm:cxn modelId="{A648874C-A083-40CA-9FAA-A7AEBC1A8613}" srcId="{4DB4EC8C-7D8C-427A-828A-35401E1A1FED}" destId="{A3B14516-F8B9-432E-94CC-FA10B8915F5B}" srcOrd="5" destOrd="0" parTransId="{496DEA6E-2C64-45EC-94AC-02219F48FF3D}" sibTransId="{938E8167-B1C1-4DD7-9850-625F09BFFFA7}"/>
    <dgm:cxn modelId="{37D69C52-79A5-4E7A-A24B-99A7E7BDE150}" srcId="{4DB4EC8C-7D8C-427A-828A-35401E1A1FED}" destId="{FFED452E-312D-4954-9813-0DD732798AA6}" srcOrd="3" destOrd="0" parTransId="{A2E72E9A-855B-4468-B3BA-78D66CACF090}" sibTransId="{51F1E958-E93A-454F-A8D5-ADDC6E492561}"/>
    <dgm:cxn modelId="{4FC40E7E-8408-4628-A2F8-0F9A2F550BF3}" type="presOf" srcId="{A3B14516-F8B9-432E-94CC-FA10B8915F5B}" destId="{FF07C513-19BE-4746-8F6A-5AEE6C520E2C}" srcOrd="0" destOrd="5" presId="urn:microsoft.com/office/officeart/2005/8/layout/hList1"/>
    <dgm:cxn modelId="{2A924E84-0888-423F-8369-E285F4B796C2}" srcId="{4DB4EC8C-7D8C-427A-828A-35401E1A1FED}" destId="{41DA7D78-D632-421E-BEDD-54EC4B163493}" srcOrd="4" destOrd="0" parTransId="{1ABFA106-0D33-4F6C-BD66-4E040BBDD5BE}" sibTransId="{FD78A589-C184-41BA-B439-1C00747EFD3F}"/>
    <dgm:cxn modelId="{5FFABB86-EA31-46EA-AD7A-8D1F193D289C}" srcId="{DCB1F881-367C-457F-997D-A9A842690023}" destId="{4DB4EC8C-7D8C-427A-828A-35401E1A1FED}" srcOrd="0" destOrd="0" parTransId="{7A5CEEA8-9392-4138-AF13-9289EC11CC57}" sibTransId="{23FA2147-7AB6-49BA-BB01-5EC983458B46}"/>
    <dgm:cxn modelId="{8C16E09C-5A63-4AAA-B70D-49B964A7FBD2}" type="presOf" srcId="{31EDC069-A4E5-4B35-A789-0C94B6B5D7B3}" destId="{FF07C513-19BE-4746-8F6A-5AEE6C520E2C}" srcOrd="0" destOrd="6" presId="urn:microsoft.com/office/officeart/2005/8/layout/hList1"/>
    <dgm:cxn modelId="{04095AA5-FEA6-4967-8F62-89F4E82BAD69}" srcId="{4DB4EC8C-7D8C-427A-828A-35401E1A1FED}" destId="{25DF389A-0F0F-4BCC-970B-4526DB64FF75}" srcOrd="1" destOrd="0" parTransId="{B3F6ADE8-58C5-4B11-9E4C-8425F5B86F67}" sibTransId="{F8D390D9-A348-46BE-BD43-57890F8643C3}"/>
    <dgm:cxn modelId="{CFA1B7A7-3D73-4F58-B165-60887B91EC6B}" type="presOf" srcId="{25DF389A-0F0F-4BCC-970B-4526DB64FF75}" destId="{FF07C513-19BE-4746-8F6A-5AEE6C520E2C}" srcOrd="0" destOrd="1" presId="urn:microsoft.com/office/officeart/2005/8/layout/hList1"/>
    <dgm:cxn modelId="{264F8EA9-79B0-46A2-B33D-74F69703ECE9}" type="presOf" srcId="{18F6B330-F1E4-469A-AB07-91BBB14E41D8}" destId="{FF07C513-19BE-4746-8F6A-5AEE6C520E2C}" srcOrd="0" destOrd="2" presId="urn:microsoft.com/office/officeart/2005/8/layout/hList1"/>
    <dgm:cxn modelId="{6CF6F1C7-E8A3-40A8-A81C-17CE27069AA6}" srcId="{4DB4EC8C-7D8C-427A-828A-35401E1A1FED}" destId="{F59E1A53-18EB-40AF-BAF8-14FF6D3AB58F}" srcOrd="0" destOrd="0" parTransId="{DA738248-1DEB-4855-A006-D371DDC1FD19}" sibTransId="{CE1880B0-59EA-4ECC-8BB3-CC28533B6DF1}"/>
    <dgm:cxn modelId="{625282CE-0B63-4BAB-862C-9D95BA846DC6}" type="presOf" srcId="{FFED452E-312D-4954-9813-0DD732798AA6}" destId="{FF07C513-19BE-4746-8F6A-5AEE6C520E2C}" srcOrd="0" destOrd="3" presId="urn:microsoft.com/office/officeart/2005/8/layout/hList1"/>
    <dgm:cxn modelId="{7FF239DC-5347-475F-B7B9-4F5FFC7DA14F}" srcId="{4DB4EC8C-7D8C-427A-828A-35401E1A1FED}" destId="{31EDC069-A4E5-4B35-A789-0C94B6B5D7B3}" srcOrd="6" destOrd="0" parTransId="{9887A797-D61F-4597-B302-7C453DCD1C59}" sibTransId="{17C8D539-5F87-432A-AF51-B94FF6DBC0CD}"/>
    <dgm:cxn modelId="{6AC1CAF1-B403-4426-932B-864372F009B5}" type="presOf" srcId="{41DA7D78-D632-421E-BEDD-54EC4B163493}" destId="{FF07C513-19BE-4746-8F6A-5AEE6C520E2C}" srcOrd="0" destOrd="4" presId="urn:microsoft.com/office/officeart/2005/8/layout/hList1"/>
    <dgm:cxn modelId="{933F71F2-524F-4969-88E9-D6A22F0EDF95}" type="presOf" srcId="{DCB1F881-367C-457F-997D-A9A842690023}" destId="{FD5EB084-04B1-4117-B7B0-6DD09BCF7C6E}" srcOrd="0" destOrd="0" presId="urn:microsoft.com/office/officeart/2005/8/layout/hList1"/>
    <dgm:cxn modelId="{C36ABB1C-9AB1-490F-8873-3B44E18F5ADA}" type="presParOf" srcId="{FD5EB084-04B1-4117-B7B0-6DD09BCF7C6E}" destId="{2C677256-0022-4B15-8FF9-AF733E60E7E0}" srcOrd="0" destOrd="0" presId="urn:microsoft.com/office/officeart/2005/8/layout/hList1"/>
    <dgm:cxn modelId="{30479A33-81A3-4B40-962A-918E7CB49AEC}" type="presParOf" srcId="{2C677256-0022-4B15-8FF9-AF733E60E7E0}" destId="{A11D341D-539D-4B55-8565-B70E8FF18039}" srcOrd="0" destOrd="0" presId="urn:microsoft.com/office/officeart/2005/8/layout/hList1"/>
    <dgm:cxn modelId="{0AE35AD9-5138-469E-BC4A-B14D480D4ABD}" type="presParOf" srcId="{2C677256-0022-4B15-8FF9-AF733E60E7E0}" destId="{FF07C513-19BE-4746-8F6A-5AEE6C520E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D341D-539D-4B55-8565-B70E8FF18039}">
      <dsp:nvSpPr>
        <dsp:cNvPr id="0" name=""/>
        <dsp:cNvSpPr/>
      </dsp:nvSpPr>
      <dsp:spPr>
        <a:xfrm>
          <a:off x="0" y="55416"/>
          <a:ext cx="3537857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billets.csv</a:t>
          </a:r>
          <a:endParaRPr lang="en-GB" sz="2800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0" y="55416"/>
        <a:ext cx="3537857" cy="806400"/>
      </dsp:txXfrm>
    </dsp:sp>
    <dsp:sp modelId="{FF07C513-19BE-4746-8F6A-5AEE6C520E2C}">
      <dsp:nvSpPr>
        <dsp:cNvPr id="0" name=""/>
        <dsp:cNvSpPr/>
      </dsp:nvSpPr>
      <dsp:spPr>
        <a:xfrm>
          <a:off x="0" y="861816"/>
          <a:ext cx="3537857" cy="3842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is_genuine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diagonal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height_left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height_right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margin_low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margin_up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length</a:t>
          </a:r>
          <a:endParaRPr lang="en-GB" sz="28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0" y="861816"/>
        <a:ext cx="3537857" cy="3842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C8A30-7FF0-476B-900D-3D0727BC58F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012AA-8A6E-40CD-8DAF-0D6C05AFC8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71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Suppression de la variable « diagonal » car pas significative, proche de 0 et pas d’influence sur les restes des variables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012AA-8A6E-40CD-8DAF-0D6C05AFC89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6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8AB5ED-BE11-EE23-31E7-E98D8B00D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865C11-FA7F-81EA-9D86-0D239E385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A58B15-A0B4-BE13-5A62-34B182B6B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B91A2-260B-499F-A7D0-C2E076A6B3A4}" type="datetime1">
              <a:rPr lang="en-GB" smtClean="0"/>
              <a:t>14/12/2025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63145F-6A10-8093-90E3-29362212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BA20F1-0B99-A910-3E3E-82D6745F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16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37DFB-6602-3CF0-732E-6C74E2E2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207062-B14D-21FA-E207-7CBA56548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ABB6C-1523-574A-C0BB-2BEA1558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DED47-F6BC-4C8B-8CF4-66010A0D5EAA}" type="datetime1">
              <a:rPr lang="en-GB" smtClean="0"/>
              <a:t>14/12/2025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90C145-8F5A-61CA-146E-EE6CC7C5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6F5CC-7E84-1C55-0F35-D957C733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56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65F58-A77A-B138-A6DB-CB7C2633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15D286-4E2C-F780-F492-3F33C725C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C376A7-3EEA-68E8-79BF-3D25E4EA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DBA0F-A5E5-479A-8DD9-607536E72DDF}" type="datetime1">
              <a:rPr lang="en-GB" smtClean="0"/>
              <a:t>14/12/2025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01A927-0A54-2C00-0B55-B6ECC3DF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8A96D9-6484-2D2D-28CF-2BA41625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9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F4887A-8845-FA5F-4963-22559BF5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A91B12-1431-D355-719C-C26520627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BF155F-A112-A701-2E4F-FBEDB0357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0CB7DB-7DF9-65AE-7506-F6BA8696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8324-598A-4B4A-8A02-E65F1383374E}" type="datetime1">
              <a:rPr lang="en-GB" smtClean="0"/>
              <a:t>14/12/2025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958D06-00F2-C029-F08A-D190BDD2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879A0E-AC01-52B3-F4AD-DD39615C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6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78071D-2A5D-8F1B-F941-4F097CE2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2442DA-96A7-6BA9-4D64-6A51DD28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558AB5-758A-A1AA-A0D1-5197A5DAE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FCFAF20-F0C3-0837-E2D7-69D8450C2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374370-1761-1D14-3A26-9864DEFFA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3A746B-5E9E-8AFF-604C-368D7A01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9B00-A57F-455D-8F73-B25F81B6922C}" type="datetime1">
              <a:rPr lang="en-GB" smtClean="0"/>
              <a:t>14/12/2025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18A4B8-D229-FD8A-8FCE-DD75F9D8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511E13B-9081-AFDF-CDEA-6BA432B0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17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61922-1572-07D6-07B7-35C9375B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755D3E6-5124-6E62-6211-5F09A4ED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BEC2-327A-4A26-B26E-3007F50BE2F9}" type="datetime1">
              <a:rPr lang="en-GB" smtClean="0"/>
              <a:t>14/12/2025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7D295E-C335-7D42-DD78-BDC59E39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B87233-A0BA-7461-8196-6AF98E2B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8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0FDAB2-2EFF-7302-594B-A5BE29CD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E1F2-52E8-4F25-AB45-E4D2368ADC6C}" type="datetime1">
              <a:rPr lang="en-GB" smtClean="0"/>
              <a:t>14/12/2025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3D109F-5BF3-A5C9-D660-CCF0C635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F4E9A6-7490-36A9-55AC-82B0C0A6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986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0FBBF8-5C9F-067A-ABD0-00EDCF24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7EE572-23F8-69AC-FA1C-0DC4D1016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A882BD-FC4F-7F50-E930-C16DFA4C2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2D0E53-5951-A25E-7532-FCB22F4E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D0BC-EFEC-448F-B372-AF5F30C7982E}" type="datetime1">
              <a:rPr lang="en-GB" smtClean="0"/>
              <a:t>14/12/2025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2B9D58-22AD-81C5-9879-528C56045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2CEA97-E7B2-94E3-FF59-AD730502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72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D57C95-C1CE-3DE8-A199-EC7AFAB6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F4EA93-3E20-B9BF-6D68-A455EBFC4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A2558A-3B07-7C03-E110-76F447C25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3A6815-95C0-A4FA-FC92-9A08DE59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6EFD1-D2D5-4A55-B454-7D1E53D33DB5}" type="datetime1">
              <a:rPr lang="en-GB" smtClean="0"/>
              <a:t>14/12/2025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959674-6C44-9EB4-8FA2-6FA3A869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F5605C-E135-3317-FA0D-955D6D0C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EA4D6E-199C-F22C-A32F-A469CAB5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E4B22B-D648-9583-0C2B-24649A672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096B60-EBC1-C223-1F12-B7ED0CFA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95FA-DA5F-4E62-A742-AF0A046EBF9A}" type="datetime1">
              <a:rPr lang="en-GB" smtClean="0"/>
              <a:t>14/12/2025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1C3ADE-5872-0077-07DC-2B8B656D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2F297-93FE-3624-4142-32505E09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30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4B8E85C-FE45-07D1-DDB3-E683BA0D4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0180C6-293A-4717-2305-600B59684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79675A-5812-180A-C474-3EA120A3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68B6-9983-41FC-AFFE-564A336DD3EE}" type="datetime1">
              <a:rPr lang="en-GB" smtClean="0"/>
              <a:t>14/12/2025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086178-0B35-C538-D882-EAAF13ED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030CA4-F046-44AB-07A8-4569DED4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28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5811D11-4238-D88C-B09E-0EDC9A9B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49A143-920D-C049-D0E6-39C72916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3ADD9F-EFB4-2567-86A1-EEC2E76A4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F6E6F-379F-4EF2-9F72-B457BE55C29E}" type="datetime1">
              <a:rPr lang="en-GB" smtClean="0"/>
              <a:t>14/12/2025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B8FACF-3838-1E3F-6ECA-BD60A5832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242D1E-F7FA-5BD9-B2FC-8298A61B3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D2F00-4542-4644-A237-134B4F884F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6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geralt-9301/?utm_source=link-attribution&amp;utm_medium=referral&amp;utm_campaign=image&amp;utm_content=5098144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fr/?utm_source=link-attribution&amp;utm_medium=referral&amp;utm_campaign=image&amp;utm_content=5098144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?utm_source=link-attribution&amp;utm_medium=referral&amp;utm_campaign=image&amp;utm_content=7820591" TargetMode="External"/><Relationship Id="rId2" Type="http://schemas.openxmlformats.org/officeDocument/2006/relationships/hyperlink" Target="https://pixabay.com/fr/users/muhnaufals-6229071/?utm_source=link-attribution&amp;utm_medium=referral&amp;utm_campaign=image&amp;utm_content=782059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?utm_source=link-attribution&amp;utm_medium=referral&amp;utm_campaign=image&amp;utm_content=24497" TargetMode="External"/><Relationship Id="rId2" Type="http://schemas.openxmlformats.org/officeDocument/2006/relationships/hyperlink" Target="https://pixabay.com/fr/users/clker-free-vector-images-3736/?utm_source=link-attribution&amp;utm_medium=referral&amp;utm_campaign=image&amp;utm_content=24497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?utm_source=link-attribution&amp;utm_medium=referral&amp;utm_campaign=image&amp;utm_content=1093183" TargetMode="External"/><Relationship Id="rId2" Type="http://schemas.openxmlformats.org/officeDocument/2006/relationships/hyperlink" Target="https://pixabay.com/fr/users/samuel1983-1626596/?utm_source=link-attribution&amp;utm_medium=referral&amp;utm_campaign=image&amp;utm_content=1093183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1B3D063-E612-AF80-DA5D-23527D1C2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3606" y="1562669"/>
            <a:ext cx="4058986" cy="2380681"/>
          </a:xfrm>
        </p:spPr>
        <p:txBody>
          <a:bodyPr anchor="b">
            <a:normAutofit fontScale="90000"/>
          </a:bodyPr>
          <a:lstStyle/>
          <a:p>
            <a:r>
              <a:rPr lang="fr-F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ONCFM</a:t>
            </a:r>
            <a:br>
              <a:rPr lang="fr-F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fr-F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fr-F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fr-F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DÉTECTION DE FAUX BILLETS</a:t>
            </a: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D012EE6-9DB9-CEBD-2EA5-585AD7BED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5299" y="4216343"/>
            <a:ext cx="2895600" cy="1289676"/>
          </a:xfrm>
        </p:spPr>
        <p:txBody>
          <a:bodyPr anchor="t">
            <a:normAutofit/>
          </a:bodyPr>
          <a:lstStyle/>
          <a:p>
            <a:endParaRPr lang="en-GB" sz="1600" b="1" dirty="0">
              <a:solidFill>
                <a:schemeClr val="tx1">
                  <a:lumMod val="85000"/>
                  <a:lumOff val="1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Sophie KIM</a:t>
            </a:r>
          </a:p>
          <a:p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 Analyst</a:t>
            </a:r>
          </a:p>
        </p:txBody>
      </p:sp>
      <p:pic>
        <p:nvPicPr>
          <p:cNvPr id="8" name="Image 7" descr="Une image contenant texte, carte&#10;&#10;Le contenu généré par l’IA peut être incorrect.">
            <a:extLst>
              <a:ext uri="{FF2B5EF4-FFF2-40B4-BE49-F238E27FC236}">
                <a16:creationId xmlns:a16="http://schemas.microsoft.com/office/drawing/2014/main" id="{E0143062-ABA3-AB95-E282-402B6EED2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0" r="9892" b="-2"/>
          <a:stretch>
            <a:fillRect/>
          </a:stretch>
        </p:blipFill>
        <p:spPr>
          <a:xfrm>
            <a:off x="-40153" y="1"/>
            <a:ext cx="7114506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13A6423-661E-B048-B98E-9874568DC4CA}"/>
              </a:ext>
            </a:extLst>
          </p:cNvPr>
          <p:cNvSpPr txBox="1"/>
          <p:nvPr/>
        </p:nvSpPr>
        <p:spPr>
          <a:xfrm>
            <a:off x="7034199" y="6546218"/>
            <a:ext cx="4526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Gerd Altmann</a:t>
            </a: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en-GB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endParaRPr lang="en-GB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ED8FE8F-B8F0-7D96-F749-45C267C0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68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701E1-7E6B-017C-7B06-EA910369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CONTEXTE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64B549-79F8-C467-BE0D-650C7F11D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98770"/>
            <a:ext cx="10515600" cy="359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en-GB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Muhammad Naufal </a:t>
            </a:r>
            <a:r>
              <a:rPr lang="en-GB" sz="1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Subhiansyah</a:t>
            </a: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en-GB" sz="1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F0AAD99B-9050-8E73-AE7C-90099EAAC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357" y="1690688"/>
            <a:ext cx="8545286" cy="4272643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87E3A31-0978-6A02-3D3B-64B25C90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0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7C3AF-8804-D2FD-D187-C3245D02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MÉTHODOLOGIE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355672F8-D5F3-22D7-7EEF-0B9E572F2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384695"/>
              </p:ext>
            </p:extLst>
          </p:nvPr>
        </p:nvGraphicFramePr>
        <p:xfrm>
          <a:off x="4327071" y="1564367"/>
          <a:ext cx="3537857" cy="4760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E250711-8861-AF79-B35E-791C9EA9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10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49DC8-0550-C264-3E8D-90368F38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GESTION DES VALEURS MANQUANTES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A9D8D6E-18BC-D4A7-F23C-3BD9C1D63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666" y="1334720"/>
            <a:ext cx="6256667" cy="539265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CE5B96-4CDF-928F-3B57-568B60D3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45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DEC3-8781-D1BF-9254-3FE8CE02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A8853E-09F4-BE1A-0704-8A897E0E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1435" cy="1325563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LA LONGUEUR DISTINGUE LES VRAIS DES FAUX </a:t>
            </a:r>
            <a:b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ALORS QUE LA DIAGONALE LES CONFOND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3E0C468-32A6-C5A0-8464-CF1A1094B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4809" y="1722944"/>
            <a:ext cx="4502381" cy="244487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ECEBF3D-EF9A-4662-F134-A9C89BBD3D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4"/>
          <a:stretch>
            <a:fillRect/>
          </a:stretch>
        </p:blipFill>
        <p:spPr>
          <a:xfrm>
            <a:off x="3844809" y="4199624"/>
            <a:ext cx="4688291" cy="15781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58E621E-B383-478C-6509-F124D81FBE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23"/>
          <a:stretch>
            <a:fillRect/>
          </a:stretch>
        </p:blipFill>
        <p:spPr>
          <a:xfrm>
            <a:off x="3844809" y="5849321"/>
            <a:ext cx="5004323" cy="942865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9BBBFCB-1A36-F5D4-C8C4-5047407C6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53" y="5831623"/>
            <a:ext cx="1149008" cy="8571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01D27B-04EA-339F-D739-52D2BCB3517A}"/>
              </a:ext>
            </a:extLst>
          </p:cNvPr>
          <p:cNvSpPr/>
          <p:nvPr/>
        </p:nvSpPr>
        <p:spPr>
          <a:xfrm>
            <a:off x="4166483" y="1810060"/>
            <a:ext cx="675861" cy="49821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7F1D5-FFDF-8AD7-580C-161D68148564}"/>
              </a:ext>
            </a:extLst>
          </p:cNvPr>
          <p:cNvSpPr/>
          <p:nvPr/>
        </p:nvSpPr>
        <p:spPr>
          <a:xfrm>
            <a:off x="3844809" y="4966728"/>
            <a:ext cx="4225765" cy="84283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6B46A09-68A9-DDBC-999B-05D175609FA8}"/>
              </a:ext>
            </a:extLst>
          </p:cNvPr>
          <p:cNvSpPr txBox="1"/>
          <p:nvPr/>
        </p:nvSpPr>
        <p:spPr>
          <a:xfrm>
            <a:off x="838199" y="1848948"/>
            <a:ext cx="3299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 valeurs des vrais et faux billets </a:t>
            </a:r>
          </a:p>
          <a:p>
            <a:r>
              <a:rPr lang="fr-FR" sz="1400" b="1" u="sng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 CONFONDENT </a:t>
            </a:r>
            <a:r>
              <a:rPr lang="fr-FR" sz="1400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davantage </a:t>
            </a:r>
          </a:p>
          <a:p>
            <a:r>
              <a:rPr lang="fr-FR" sz="1400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sur la variable </a:t>
            </a:r>
            <a:r>
              <a:rPr lang="fr-FR" sz="1400" b="1" u="sng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« diagonal ».</a:t>
            </a:r>
            <a:endParaRPr lang="en-GB" sz="1400" b="1" u="sng" dirty="0">
              <a:solidFill>
                <a:srgbClr val="FF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655C66-E05C-C147-58E2-4D444755F5CB}"/>
              </a:ext>
            </a:extLst>
          </p:cNvPr>
          <p:cNvSpPr txBox="1"/>
          <p:nvPr/>
        </p:nvSpPr>
        <p:spPr>
          <a:xfrm>
            <a:off x="8870695" y="4966728"/>
            <a:ext cx="3331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 valeurs des vrais et faux billets </a:t>
            </a:r>
          </a:p>
          <a:p>
            <a:r>
              <a:rPr lang="fr-FR" sz="1400" b="1" u="sng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 DISTINGUENT </a:t>
            </a:r>
            <a:r>
              <a:rPr lang="fr-FR" sz="1400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davantage </a:t>
            </a:r>
          </a:p>
          <a:p>
            <a:r>
              <a:rPr lang="fr-FR" sz="1400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sur la variable </a:t>
            </a:r>
            <a:r>
              <a:rPr lang="fr-FR" sz="1400" b="1" u="sng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« </a:t>
            </a:r>
            <a:r>
              <a:rPr lang="fr-FR" sz="1400" b="1" u="sng" dirty="0" err="1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length</a:t>
            </a:r>
            <a:r>
              <a:rPr lang="fr-FR" sz="1400" b="1" u="sng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». </a:t>
            </a:r>
            <a:endParaRPr lang="en-GB" sz="1400" b="1" u="sng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29D227-9347-C5E2-E78B-DC6534A001BE}"/>
              </a:ext>
            </a:extLst>
          </p:cNvPr>
          <p:cNvSpPr txBox="1"/>
          <p:nvPr/>
        </p:nvSpPr>
        <p:spPr>
          <a:xfrm>
            <a:off x="938253" y="5655674"/>
            <a:ext cx="1334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Légende : </a:t>
            </a:r>
            <a:endParaRPr lang="en-GB" sz="1400" u="sng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7BCBA8-6E8A-2D0B-36E1-C22CF1BB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49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03CA-A5BC-B8F2-0170-99EAFECD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C7473-50A8-7EB4-9DD1-D90593F5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UNE DIAGONALE SANS INFLUENCE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CBF91C0-42EB-7F3B-8C3A-53297E03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" y="1498664"/>
            <a:ext cx="4352853" cy="454552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D9113CA-4533-AF81-4F41-79723D8B8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369954"/>
            <a:ext cx="5334481" cy="47604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8F97E1-1641-AC9E-9D62-43225F040485}"/>
              </a:ext>
            </a:extLst>
          </p:cNvPr>
          <p:cNvSpPr/>
          <p:nvPr/>
        </p:nvSpPr>
        <p:spPr>
          <a:xfrm>
            <a:off x="1399032" y="2377440"/>
            <a:ext cx="2670048" cy="23682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CED22-33DC-9EAC-6557-164790C4EE17}"/>
              </a:ext>
            </a:extLst>
          </p:cNvPr>
          <p:cNvSpPr/>
          <p:nvPr/>
        </p:nvSpPr>
        <p:spPr>
          <a:xfrm>
            <a:off x="7040880" y="1690688"/>
            <a:ext cx="4312920" cy="379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83BBEC5-904B-8C4F-7FAC-D6E7CAF5C703}"/>
              </a:ext>
            </a:extLst>
          </p:cNvPr>
          <p:cNvCxnSpPr>
            <a:cxnSpLocks/>
          </p:cNvCxnSpPr>
          <p:nvPr/>
        </p:nvCxnSpPr>
        <p:spPr>
          <a:xfrm flipV="1">
            <a:off x="4069080" y="1690688"/>
            <a:ext cx="2971800" cy="6867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BF7274C-C033-559E-1CBE-D67A662A5656}"/>
              </a:ext>
            </a:extLst>
          </p:cNvPr>
          <p:cNvCxnSpPr>
            <a:cxnSpLocks/>
          </p:cNvCxnSpPr>
          <p:nvPr/>
        </p:nvCxnSpPr>
        <p:spPr>
          <a:xfrm>
            <a:off x="4069080" y="4745736"/>
            <a:ext cx="2971800" cy="7423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B8165C6-DF0E-1E82-25B5-172C3BE4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15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972C-7D7C-3CE1-DA9A-05B436FC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E5856AF-1505-6F8F-A778-B46749ED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1" y="1677963"/>
            <a:ext cx="4989796" cy="46339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E200EF8-6A74-87C8-4FB2-A32C8433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LA LONGUEUR EXPLIQUE 52% DES VRAIS ET FAUX BILLETS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ADDC72-844D-AD66-F5A0-1D01A08676D2}"/>
              </a:ext>
            </a:extLst>
          </p:cNvPr>
          <p:cNvSpPr txBox="1"/>
          <p:nvPr/>
        </p:nvSpPr>
        <p:spPr>
          <a:xfrm>
            <a:off x="10271051" y="2232837"/>
            <a:ext cx="1920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u="sng" dirty="0">
                <a:solidFill>
                  <a:schemeClr val="bg2">
                    <a:lumMod val="50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Légende : </a:t>
            </a:r>
          </a:p>
          <a:p>
            <a:endParaRPr lang="fr-FR" sz="1200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sz="1200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Point vert </a:t>
            </a:r>
            <a:r>
              <a:rPr lang="fr-FR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: vrai billet</a:t>
            </a:r>
          </a:p>
          <a:p>
            <a:endParaRPr lang="fr-FR" sz="12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sz="1200" b="1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Point rouge </a:t>
            </a:r>
            <a:r>
              <a:rPr lang="fr-FR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: faux billet</a:t>
            </a:r>
            <a:endParaRPr lang="en-GB" sz="12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7D6D8E-C4E9-5D63-F1F3-0CE611F74788}"/>
              </a:ext>
            </a:extLst>
          </p:cNvPr>
          <p:cNvSpPr/>
          <p:nvPr/>
        </p:nvSpPr>
        <p:spPr>
          <a:xfrm>
            <a:off x="3848593" y="3386113"/>
            <a:ext cx="1065940" cy="4101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DB40FFF-CA2A-1741-8C33-A80243CE4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107" y="1669505"/>
            <a:ext cx="4823370" cy="4823370"/>
          </a:xfrm>
          <a:prstGeom prst="rect">
            <a:avLst/>
          </a:prstGeom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ACFBCB64-61F5-8572-43EC-061C75DD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207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120A-76E7-860A-E612-815E15B9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BD1DFB-DFC1-E970-146A-6F3D86DF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PRÉ-TRAITEMENT DES DONNEES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AD71FB-AA20-F47A-C6CF-2CAD19603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Normalisation pour éviter les biais d’échelle</a:t>
            </a:r>
          </a:p>
          <a:p>
            <a:endPara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Transformation des valeurs « faux » et « vrai » en </a:t>
            </a:r>
            <a:r>
              <a:rPr lang="fr-FR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valeur binaire, 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soit 0 pour « faux billet » et 1 pour « vrai billet ».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2F68A62B-CA5F-D127-C6F0-FF519FDA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100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4431F8-30CA-2AB2-1217-0E44D168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1. LA RÉGRESSION LOGISTIQUE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E405A88-E728-9FD0-6D8D-909CF6AF3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9084" y="1595031"/>
            <a:ext cx="5653831" cy="5092847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72F5F7B6-CA63-96DF-25D2-5A8FDAFC0C8E}"/>
              </a:ext>
            </a:extLst>
          </p:cNvPr>
          <p:cNvSpPr/>
          <p:nvPr/>
        </p:nvSpPr>
        <p:spPr>
          <a:xfrm>
            <a:off x="6095999" y="4444408"/>
            <a:ext cx="1591341" cy="124400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12D1743-0716-0293-55A8-835E229F8B18}"/>
              </a:ext>
            </a:extLst>
          </p:cNvPr>
          <p:cNvCxnSpPr>
            <a:stCxn id="7" idx="6"/>
          </p:cNvCxnSpPr>
          <p:nvPr/>
        </p:nvCxnSpPr>
        <p:spPr>
          <a:xfrm>
            <a:off x="7687340" y="5066413"/>
            <a:ext cx="1998920" cy="372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3DA2B6-61A9-E350-C74C-2B50549EA488}"/>
              </a:ext>
            </a:extLst>
          </p:cNvPr>
          <p:cNvSpPr txBox="1"/>
          <p:nvPr/>
        </p:nvSpPr>
        <p:spPr>
          <a:xfrm>
            <a:off x="9771320" y="4918962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Vrai positif</a:t>
            </a:r>
            <a:endParaRPr lang="en-GB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25B93EC-C90C-4C1E-50EE-53DAE4EF00AF}"/>
              </a:ext>
            </a:extLst>
          </p:cNvPr>
          <p:cNvSpPr/>
          <p:nvPr/>
        </p:nvSpPr>
        <p:spPr>
          <a:xfrm>
            <a:off x="4029740" y="2456118"/>
            <a:ext cx="1626781" cy="11164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555B848-E88E-E0F5-46EE-0850D7F685E7}"/>
              </a:ext>
            </a:extLst>
          </p:cNvPr>
          <p:cNvCxnSpPr/>
          <p:nvPr/>
        </p:nvCxnSpPr>
        <p:spPr>
          <a:xfrm flipH="1">
            <a:off x="2647507" y="3051544"/>
            <a:ext cx="138223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3067F2D9-377E-EFC4-1464-0E788AE6A26E}"/>
              </a:ext>
            </a:extLst>
          </p:cNvPr>
          <p:cNvSpPr txBox="1"/>
          <p:nvPr/>
        </p:nvSpPr>
        <p:spPr>
          <a:xfrm>
            <a:off x="1114221" y="2866878"/>
            <a:ext cx="206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Vrai négatif</a:t>
            </a:r>
            <a:endParaRPr lang="en-GB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5FBC9E-987E-CE20-AB33-FE946D62C7C6}"/>
              </a:ext>
            </a:extLst>
          </p:cNvPr>
          <p:cNvSpPr/>
          <p:nvPr/>
        </p:nvSpPr>
        <p:spPr>
          <a:xfrm>
            <a:off x="6379535" y="2668772"/>
            <a:ext cx="1031358" cy="760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B95D57A6-0658-D888-229F-D4C59232375F}"/>
              </a:ext>
            </a:extLst>
          </p:cNvPr>
          <p:cNvCxnSpPr>
            <a:stCxn id="15" idx="3"/>
          </p:cNvCxnSpPr>
          <p:nvPr/>
        </p:nvCxnSpPr>
        <p:spPr>
          <a:xfrm>
            <a:off x="7410893" y="3048886"/>
            <a:ext cx="2275367" cy="2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20979E3E-9E57-A46C-F43E-C04FED5D728D}"/>
              </a:ext>
            </a:extLst>
          </p:cNvPr>
          <p:cNvSpPr txBox="1"/>
          <p:nvPr/>
        </p:nvSpPr>
        <p:spPr>
          <a:xfrm>
            <a:off x="9771320" y="2893458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Faux positif</a:t>
            </a:r>
            <a:endParaRPr lang="en-GB" b="1" dirty="0">
              <a:solidFill>
                <a:srgbClr val="FF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D9D52AF-827F-FDA0-C6BD-984705A6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55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58D2195-EF77-C908-F59B-631348C8F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101" y="1545766"/>
            <a:ext cx="8838850" cy="515721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C5A4190-02E4-93B3-E50D-36E22849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8114" cy="1325563"/>
          </a:xfrm>
        </p:spPr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LA LONGUEUR A INFLUENCÉ LES RÉSULTATS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201A734-1E70-881C-357E-1B40B9A16DE6}"/>
              </a:ext>
            </a:extLst>
          </p:cNvPr>
          <p:cNvSpPr/>
          <p:nvPr/>
        </p:nvSpPr>
        <p:spPr>
          <a:xfrm>
            <a:off x="2150305" y="1483990"/>
            <a:ext cx="1910064" cy="507406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5D3F003-65EC-95CE-C364-C24ED121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174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C665-C2B0-EA3D-50CE-1B12E2A3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CCC334C-8064-5CD6-FF39-62CCDF576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2965" y="1690688"/>
            <a:ext cx="5626365" cy="471652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C78BCC7-3A48-6209-D2EB-C9C5099B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2. LE KNN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3DD6430-2ABA-33D8-AF43-2FA5D6939EFF}"/>
              </a:ext>
            </a:extLst>
          </p:cNvPr>
          <p:cNvSpPr/>
          <p:nvPr/>
        </p:nvSpPr>
        <p:spPr>
          <a:xfrm>
            <a:off x="6095999" y="4444408"/>
            <a:ext cx="1591341" cy="124400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C65B3F3-72B7-7A5E-0CCA-A8D3560B57B5}"/>
              </a:ext>
            </a:extLst>
          </p:cNvPr>
          <p:cNvCxnSpPr>
            <a:stCxn id="7" idx="6"/>
          </p:cNvCxnSpPr>
          <p:nvPr/>
        </p:nvCxnSpPr>
        <p:spPr>
          <a:xfrm>
            <a:off x="7687340" y="5066413"/>
            <a:ext cx="1998920" cy="372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185475C5-1B05-EAB7-0BAB-0FD2B933591E}"/>
              </a:ext>
            </a:extLst>
          </p:cNvPr>
          <p:cNvSpPr txBox="1"/>
          <p:nvPr/>
        </p:nvSpPr>
        <p:spPr>
          <a:xfrm>
            <a:off x="9771320" y="4918962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Vrai positif</a:t>
            </a:r>
            <a:endParaRPr lang="en-GB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543593E-C6A9-FE28-674E-0FC355E6A774}"/>
              </a:ext>
            </a:extLst>
          </p:cNvPr>
          <p:cNvSpPr/>
          <p:nvPr/>
        </p:nvSpPr>
        <p:spPr>
          <a:xfrm>
            <a:off x="4029740" y="2456118"/>
            <a:ext cx="1626781" cy="11164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E7B28A7-1821-8745-6408-9B8BDBB7BC78}"/>
              </a:ext>
            </a:extLst>
          </p:cNvPr>
          <p:cNvCxnSpPr/>
          <p:nvPr/>
        </p:nvCxnSpPr>
        <p:spPr>
          <a:xfrm flipH="1">
            <a:off x="2647507" y="3051544"/>
            <a:ext cx="138223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271687E9-1FE0-1EC6-C4AC-429E41771979}"/>
              </a:ext>
            </a:extLst>
          </p:cNvPr>
          <p:cNvSpPr txBox="1"/>
          <p:nvPr/>
        </p:nvSpPr>
        <p:spPr>
          <a:xfrm>
            <a:off x="1114221" y="2866878"/>
            <a:ext cx="206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Vrai négatif</a:t>
            </a:r>
            <a:endParaRPr lang="en-GB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B92E6B-4297-7733-AB27-36F6C30720F4}"/>
              </a:ext>
            </a:extLst>
          </p:cNvPr>
          <p:cNvSpPr/>
          <p:nvPr/>
        </p:nvSpPr>
        <p:spPr>
          <a:xfrm>
            <a:off x="6379535" y="2668772"/>
            <a:ext cx="1031358" cy="760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C79B567-90C3-0A3B-D2F7-7FAAE4E4D299}"/>
              </a:ext>
            </a:extLst>
          </p:cNvPr>
          <p:cNvCxnSpPr>
            <a:stCxn id="15" idx="3"/>
          </p:cNvCxnSpPr>
          <p:nvPr/>
        </p:nvCxnSpPr>
        <p:spPr>
          <a:xfrm>
            <a:off x="7410893" y="3048886"/>
            <a:ext cx="2275367" cy="2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BDB4E8B-75CD-C48F-8F98-6B03150DBD09}"/>
              </a:ext>
            </a:extLst>
          </p:cNvPr>
          <p:cNvSpPr txBox="1"/>
          <p:nvPr/>
        </p:nvSpPr>
        <p:spPr>
          <a:xfrm>
            <a:off x="9771320" y="2893458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Faux positif</a:t>
            </a:r>
            <a:endParaRPr lang="en-GB" b="1" dirty="0">
              <a:solidFill>
                <a:srgbClr val="FF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138BE3B-228A-39B8-80F0-19EC8A4A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0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00BB-6C47-A1F5-E2A0-EFFEEAA5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18916D1C-B1BA-B707-0BAF-DC652F53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23" y="1555130"/>
            <a:ext cx="5720824" cy="493774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205DD74-C08C-6954-1C2F-CDF2431A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3. LE RANDOM FOREST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C828041-CC33-D47B-450C-C767D491C3BD}"/>
              </a:ext>
            </a:extLst>
          </p:cNvPr>
          <p:cNvSpPr/>
          <p:nvPr/>
        </p:nvSpPr>
        <p:spPr>
          <a:xfrm>
            <a:off x="6095999" y="4444408"/>
            <a:ext cx="1591341" cy="124400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8A317AF-08A6-4425-9499-595EF9EA8992}"/>
              </a:ext>
            </a:extLst>
          </p:cNvPr>
          <p:cNvCxnSpPr>
            <a:stCxn id="7" idx="6"/>
          </p:cNvCxnSpPr>
          <p:nvPr/>
        </p:nvCxnSpPr>
        <p:spPr>
          <a:xfrm>
            <a:off x="7687340" y="5066413"/>
            <a:ext cx="1998920" cy="372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C9F168FF-34B2-00AE-D13A-57BA2DF10DFE}"/>
              </a:ext>
            </a:extLst>
          </p:cNvPr>
          <p:cNvSpPr txBox="1"/>
          <p:nvPr/>
        </p:nvSpPr>
        <p:spPr>
          <a:xfrm>
            <a:off x="9771320" y="4918962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Vrai positif</a:t>
            </a:r>
            <a:endParaRPr lang="en-GB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CFBB05D-0C7C-78E7-D798-13FE62283A70}"/>
              </a:ext>
            </a:extLst>
          </p:cNvPr>
          <p:cNvSpPr/>
          <p:nvPr/>
        </p:nvSpPr>
        <p:spPr>
          <a:xfrm>
            <a:off x="4029740" y="2456118"/>
            <a:ext cx="1626781" cy="11164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8ABE35F-9350-132B-2944-F2E57FCEB236}"/>
              </a:ext>
            </a:extLst>
          </p:cNvPr>
          <p:cNvCxnSpPr/>
          <p:nvPr/>
        </p:nvCxnSpPr>
        <p:spPr>
          <a:xfrm flipH="1">
            <a:off x="2647507" y="3051544"/>
            <a:ext cx="138223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E1CE8FFC-6127-8328-960B-CB02D332E671}"/>
              </a:ext>
            </a:extLst>
          </p:cNvPr>
          <p:cNvSpPr txBox="1"/>
          <p:nvPr/>
        </p:nvSpPr>
        <p:spPr>
          <a:xfrm>
            <a:off x="1114221" y="2866878"/>
            <a:ext cx="206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Vrai négatif</a:t>
            </a:r>
            <a:endParaRPr lang="en-GB" b="1" dirty="0">
              <a:solidFill>
                <a:srgbClr val="00B05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6254FC-AFA5-01F5-6887-EA688D51989B}"/>
              </a:ext>
            </a:extLst>
          </p:cNvPr>
          <p:cNvSpPr/>
          <p:nvPr/>
        </p:nvSpPr>
        <p:spPr>
          <a:xfrm>
            <a:off x="6379535" y="2668772"/>
            <a:ext cx="1031358" cy="760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28477712-3084-F319-47F8-256A1590F7B7}"/>
              </a:ext>
            </a:extLst>
          </p:cNvPr>
          <p:cNvCxnSpPr>
            <a:stCxn id="15" idx="3"/>
          </p:cNvCxnSpPr>
          <p:nvPr/>
        </p:nvCxnSpPr>
        <p:spPr>
          <a:xfrm>
            <a:off x="7410893" y="3048886"/>
            <a:ext cx="2275367" cy="2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CBD98914-CCBF-841D-CA94-124B3498B712}"/>
              </a:ext>
            </a:extLst>
          </p:cNvPr>
          <p:cNvSpPr txBox="1"/>
          <p:nvPr/>
        </p:nvSpPr>
        <p:spPr>
          <a:xfrm>
            <a:off x="9771320" y="2893458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Faux positif</a:t>
            </a:r>
            <a:endParaRPr lang="en-GB" b="1" dirty="0">
              <a:solidFill>
                <a:srgbClr val="FF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CB680-51D6-7F54-71B7-E19DC7997C13}"/>
              </a:ext>
            </a:extLst>
          </p:cNvPr>
          <p:cNvSpPr/>
          <p:nvPr/>
        </p:nvSpPr>
        <p:spPr>
          <a:xfrm>
            <a:off x="4506432" y="4652591"/>
            <a:ext cx="1031358" cy="760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0DC50D3-5ADA-A4E8-19EF-1C04D0A6D3A0}"/>
              </a:ext>
            </a:extLst>
          </p:cNvPr>
          <p:cNvCxnSpPr/>
          <p:nvPr/>
        </p:nvCxnSpPr>
        <p:spPr>
          <a:xfrm>
            <a:off x="2231065" y="5063754"/>
            <a:ext cx="2275367" cy="2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E4F6399B-EE14-0F4C-7523-6365A1A0DD0A}"/>
              </a:ext>
            </a:extLst>
          </p:cNvPr>
          <p:cNvSpPr txBox="1"/>
          <p:nvPr/>
        </p:nvSpPr>
        <p:spPr>
          <a:xfrm>
            <a:off x="838200" y="4879088"/>
            <a:ext cx="20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Faux négatif</a:t>
            </a:r>
            <a:endParaRPr lang="en-GB" b="1" dirty="0">
              <a:solidFill>
                <a:srgbClr val="FF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6BB2343-F54E-96F3-C5E3-5A452A7E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969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0350-33BF-FFBF-2CA8-E0DA2357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67C5D-ECB9-FFCE-B9FC-16EBF869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4. LE K-MEANS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F69BB0-88D7-3B7E-2BF5-AF9927EC6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81" y="1926124"/>
            <a:ext cx="5698693" cy="416375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21F903-9117-F62A-E9E2-67C7C51B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508" y="1926125"/>
            <a:ext cx="5569348" cy="41637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647E2B-E18C-DCA5-F3A0-77528CDD3C1C}"/>
              </a:ext>
            </a:extLst>
          </p:cNvPr>
          <p:cNvSpPr/>
          <p:nvPr/>
        </p:nvSpPr>
        <p:spPr>
          <a:xfrm>
            <a:off x="1212112" y="4007999"/>
            <a:ext cx="765544" cy="52147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8FD62D9-4402-B582-84B4-D7AE1C25A53A}"/>
              </a:ext>
            </a:extLst>
          </p:cNvPr>
          <p:cNvSpPr/>
          <p:nvPr/>
        </p:nvSpPr>
        <p:spPr>
          <a:xfrm>
            <a:off x="6655981" y="2232837"/>
            <a:ext cx="574159" cy="446568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0B67CDD-5600-134D-9A43-90FF2275B687}"/>
              </a:ext>
            </a:extLst>
          </p:cNvPr>
          <p:cNvSpPr txBox="1"/>
          <p:nvPr/>
        </p:nvSpPr>
        <p:spPr>
          <a:xfrm>
            <a:off x="1818167" y="3572540"/>
            <a:ext cx="160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COUDE</a:t>
            </a:r>
            <a:endParaRPr lang="en-GB" b="1" dirty="0">
              <a:solidFill>
                <a:schemeClr val="accent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C50596-76C8-41C0-11C7-F99AA0FBDD48}"/>
              </a:ext>
            </a:extLst>
          </p:cNvPr>
          <p:cNvSpPr txBox="1"/>
          <p:nvPr/>
        </p:nvSpPr>
        <p:spPr>
          <a:xfrm>
            <a:off x="6517758" y="1741458"/>
            <a:ext cx="850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PIC</a:t>
            </a:r>
            <a:endParaRPr lang="en-GB" b="1" dirty="0">
              <a:solidFill>
                <a:schemeClr val="accent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7B20CF3-95A6-2E8F-264E-B5B20A28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293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53C29DA-3328-2BE5-C456-5BEE7BE982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102699" y="344287"/>
            <a:ext cx="7986602" cy="616942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C2ADE78-A71C-AC5A-FB87-285B4D48A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MODÈLE RETENU : </a:t>
            </a:r>
            <a:endParaRPr lang="en-GB" sz="36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42E8F5-7E07-E5C2-8456-CEB3B9C526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RÉGRESSION LOGISTIQUE</a:t>
            </a:r>
            <a:endParaRPr lang="en-GB" sz="60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0FA289-79AA-74C0-3C52-38A022FA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33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EB71-5EFF-C5B8-1D97-D7911BDA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7AF8E08-22C7-383D-38B4-5D6C4CC7FBEC}"/>
              </a:ext>
            </a:extLst>
          </p:cNvPr>
          <p:cNvSpPr txBox="1"/>
          <p:nvPr/>
        </p:nvSpPr>
        <p:spPr>
          <a:xfrm>
            <a:off x="0" y="6581001"/>
            <a:ext cx="7517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Clker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-Free-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-Images</a:t>
            </a: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6" name="Image 5" descr="Une image contenant clipart, dessin humoristique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A5D6A134-2FCE-B4DC-B0AB-2F2C0CDA2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136" y="477489"/>
            <a:ext cx="5787728" cy="5903021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BF4A868-D676-F498-F566-BEB014A4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953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2697-9A2A-3695-D4FA-D0DA99D6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DD537-0069-CB6C-DB62-BFF8BEBE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CONCLUSION</a:t>
            </a:r>
            <a:r>
              <a:rPr lang="fr-FR" dirty="0"/>
              <a:t> 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97A49A-3774-C913-7F27-2FD2C42B8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Ici, le choix s’est porté sur l’algorithme de la régression logistique car son exactitude est meilleure et a fait moins d’erreur.</a:t>
            </a:r>
          </a:p>
          <a:p>
            <a:pPr marL="0" indent="0">
              <a:buNone/>
            </a:pPr>
            <a:endPara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Attention aux limites des algorithmes et au contexte.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D037FC-8FC5-375A-641D-91120AC5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276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773378-83BA-B238-40F9-BEA9FFB03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542314"/>
            <a:ext cx="10515600" cy="315686"/>
          </a:xfrm>
        </p:spPr>
        <p:txBody>
          <a:bodyPr>
            <a:normAutofit/>
          </a:bodyPr>
          <a:lstStyle/>
          <a:p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Samuel1983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 descr="Une image contenant cercl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8B5290F-656B-9C90-53EE-1BF01AFF8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19" y="0"/>
            <a:ext cx="6659761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AFAE8D1-E2B0-7498-ACC1-8DAE4C389396}"/>
              </a:ext>
            </a:extLst>
          </p:cNvPr>
          <p:cNvSpPr txBox="1"/>
          <p:nvPr/>
        </p:nvSpPr>
        <p:spPr>
          <a:xfrm>
            <a:off x="4054928" y="1747663"/>
            <a:ext cx="2405743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fr-FR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MERCI</a:t>
            </a:r>
            <a:endParaRPr lang="en-GB" sz="60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237AC1-7B2F-6F92-A146-7347AE4EA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2F00-4542-4644-A237-134B4F884FD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324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2675</TotalTime>
  <Words>309</Words>
  <Application>Microsoft Office PowerPoint</Application>
  <PresentationFormat>Grand écran</PresentationFormat>
  <Paragraphs>81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Segoe UI Semilight</vt:lpstr>
      <vt:lpstr>Thème Office</vt:lpstr>
      <vt:lpstr>ONCFM   DÉTECTION DE FAUX BILLETS</vt:lpstr>
      <vt:lpstr>CONTEXTE</vt:lpstr>
      <vt:lpstr>MÉTHODOLOGIE</vt:lpstr>
      <vt:lpstr>GESTION DES VALEURS MANQUANTES</vt:lpstr>
      <vt:lpstr>LA LONGUEUR DISTINGUE LES VRAIS DES FAUX  ALORS QUE LA DIAGONALE LES CONFOND</vt:lpstr>
      <vt:lpstr>UNE DIAGONALE SANS INFLUENCE</vt:lpstr>
      <vt:lpstr>LA LONGUEUR EXPLIQUE 52% DES VRAIS ET FAUX BILLETS</vt:lpstr>
      <vt:lpstr>PRÉ-TRAITEMENT DES DONNEES</vt:lpstr>
      <vt:lpstr>1. LA RÉGRESSION LOGISTIQUE</vt:lpstr>
      <vt:lpstr>LA LONGUEUR A INFLUENCÉ LES RÉSULTATS </vt:lpstr>
      <vt:lpstr>2. LE KNN</vt:lpstr>
      <vt:lpstr>3. LE RANDOM FOREST</vt:lpstr>
      <vt:lpstr>4. LE K-MEANS</vt:lpstr>
      <vt:lpstr>MODÈLE RETENU : </vt:lpstr>
      <vt:lpstr>Présentation PowerPoint</vt:lpstr>
      <vt:lpstr>CONCLUSION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KIM</dc:creator>
  <cp:lastModifiedBy>Sophie K</cp:lastModifiedBy>
  <cp:revision>41</cp:revision>
  <dcterms:created xsi:type="dcterms:W3CDTF">2025-12-03T10:50:01Z</dcterms:created>
  <dcterms:modified xsi:type="dcterms:W3CDTF">2025-12-14T21:46:10Z</dcterms:modified>
</cp:coreProperties>
</file>